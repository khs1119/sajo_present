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7dfcfbfd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7dfcfbfd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7dfcfbfd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7dfcfbfd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7dfcfbfd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7dfcfbfd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7dfcfbfd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7dfcfbf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7dfcfbfd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7dfcfbfd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7dfcfbfda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7dfcfbfda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7dfcfbfda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7dfcfbfda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7dfcfbfda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7dfcfbfda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7dfcfbfda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7dfcfbfda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7dfcfbfda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7dfcfbfda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7dfcfbfda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7dfcfbfda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7dfcfbfda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7dfcfbfda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7dfcfbfda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7dfcfbfda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7dfcfbfda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7dfcfbfda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7dfcfbfda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7dfcfbfda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7dfcfbfd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7dfcfbfd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7dfcfbfda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7dfcfbfda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7dfcfbfd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7dfcfbfd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285475" y="495875"/>
            <a:ext cx="2645100" cy="1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발표 7~8분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영상 2-3분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455375" y="2225400"/>
            <a:ext cx="7935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서비스명:</a:t>
            </a:r>
            <a:r>
              <a:rPr lang="ko" sz="1100">
                <a:solidFill>
                  <a:schemeClr val="dk1"/>
                </a:solidFill>
              </a:rPr>
              <a:t> My Beauty PT (마이 뷰티 PT) — 퍼스널 뷰티 트레이너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태그라인:</a:t>
            </a:r>
            <a:r>
              <a:rPr lang="ko" sz="1100">
                <a:solidFill>
                  <a:schemeClr val="dk1"/>
                </a:solidFill>
              </a:rPr>
              <a:t> "오늘의 관리가 5년 후 내 피부를 바꾼다 — 그 변화를 미리 보여드릴게요."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한 줄 소개:</a:t>
            </a:r>
            <a:r>
              <a:rPr lang="ko" sz="1100">
                <a:solidFill>
                  <a:schemeClr val="dk1"/>
                </a:solidFill>
              </a:rPr>
              <a:t> 매일 진단부터 맞춤 제품 배송까지, 알아서 챙겨주는 AI 뷰티 트레이너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22200" y="342900"/>
            <a:ext cx="24492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기획 배경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228000" y="2788175"/>
            <a:ext cx="2687400" cy="17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귀찮음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-&gt; 바쁜 직장인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641650" y="2839925"/>
            <a:ext cx="4185900" cy="17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신뢰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-&gt; 데이터 학습을 통한 미래 예측 모델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670875" y="1016625"/>
            <a:ext cx="44592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선크림 예시 사진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2593" y="342906"/>
            <a:ext cx="1817475" cy="2282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6375" y="3441125"/>
            <a:ext cx="2274950" cy="151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2625" y="3539975"/>
            <a:ext cx="2109435" cy="151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422200" y="342900"/>
            <a:ext cx="24492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페르소나 정의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9332925" y="1056575"/>
            <a:ext cx="3352500" cy="29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800">
                <a:solidFill>
                  <a:schemeClr val="dk2"/>
                </a:solidFill>
              </a:rPr>
              <a:t>현재</a:t>
            </a:r>
            <a:endParaRPr b="1"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20대 후반 직장인 여성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야근으로 피로 누적 상태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최근 피부관리에 관심이 생김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14065150" y="1056575"/>
            <a:ext cx="3481800" cy="29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800">
                <a:solidFill>
                  <a:schemeClr val="dk2"/>
                </a:solidFill>
              </a:rPr>
              <a:t>미래</a:t>
            </a:r>
            <a:endParaRPr b="1"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기존 사용자의 30대로의 변화, 기존 사용자를 통한 60,70대 및 30대 남성으로의 서비스 확대 예측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22200" y="1384950"/>
            <a:ext cx="76533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현재 (핵심 타깃)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20대 </a:t>
            </a:r>
            <a:r>
              <a:rPr lang="ko" sz="1100">
                <a:solidFill>
                  <a:schemeClr val="dk1"/>
                </a:solidFill>
              </a:rPr>
              <a:t>중</a:t>
            </a:r>
            <a:r>
              <a:rPr lang="ko" sz="1100">
                <a:solidFill>
                  <a:schemeClr val="dk1"/>
                </a:solidFill>
              </a:rPr>
              <a:t>후반 직장인 여성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야근으로 피로가 누적된 상태, 수면·생활 리듬 불규칙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최근 피부관리에 관심이 생겼지만 무엇을·어떻게 시작할지 막막함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니즈: "노력은 최소로, 그래도 꾸준히 관리되는" 서비스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미래 (확장 시나리오)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기존 사용자의 30대 진입에 따른 라이프사이클 확장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기존 사용자를 통한 확산: 60·70대 </a:t>
            </a:r>
            <a:r>
              <a:rPr lang="ko" sz="1100">
                <a:solidFill>
                  <a:schemeClr val="dk1"/>
                </a:solidFill>
              </a:rPr>
              <a:t>부모님 세대</a:t>
            </a:r>
            <a:r>
              <a:rPr lang="ko" sz="1100">
                <a:solidFill>
                  <a:schemeClr val="dk1"/>
                </a:solidFill>
              </a:rPr>
              <a:t>(안티에이징), 30대 남성(그루밍)으로 타깃 확대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연령·성별별 피부 고민에 맞춘 진단 커리큘럼으로 대응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/>
        </p:nvSpPr>
        <p:spPr>
          <a:xfrm>
            <a:off x="422200" y="342900"/>
            <a:ext cx="24492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문제 정의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422200" y="1446250"/>
            <a:ext cx="76278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관리를 시작·지속하지 못하게 만드는 3가지 장벽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 sz="1100">
                <a:solidFill>
                  <a:schemeClr val="dk1"/>
                </a:solidFill>
              </a:rPr>
              <a:t>귀찮음</a:t>
            </a:r>
            <a:r>
              <a:rPr lang="ko" sz="1100">
                <a:solidFill>
                  <a:schemeClr val="dk1"/>
                </a:solidFill>
              </a:rPr>
              <a:t> — 진단·탐색·구매·관리의 단계마다 노력이 들어 시작조차 어렵다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 sz="1100">
                <a:solidFill>
                  <a:schemeClr val="dk1"/>
                </a:solidFill>
              </a:rPr>
              <a:t>지속적인 동기 부족</a:t>
            </a:r>
            <a:r>
              <a:rPr lang="ko" sz="1100">
                <a:solidFill>
                  <a:schemeClr val="dk1"/>
                </a:solidFill>
              </a:rPr>
              <a:t> — 하루 이틀 하다가 이유·보상이 없어 금방 그만둔다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 sz="1100">
                <a:solidFill>
                  <a:schemeClr val="dk1"/>
                </a:solidFill>
              </a:rPr>
              <a:t>피부관리 필요성에 대한 현실감 부족</a:t>
            </a:r>
            <a:r>
              <a:rPr lang="ko" sz="1100">
                <a:solidFill>
                  <a:schemeClr val="dk1"/>
                </a:solidFill>
              </a:rPr>
              <a:t> — "지금 안 해도 괜찮겠지" — 관리의 효과가 눈에 보이지 않는다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/>
        </p:nvSpPr>
        <p:spPr>
          <a:xfrm>
            <a:off x="422200" y="342900"/>
            <a:ext cx="24492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기획 개요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751100" y="1509300"/>
            <a:ext cx="1004100" cy="148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구독</a:t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2092168" y="1509300"/>
            <a:ext cx="1004100" cy="148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진단용 카메라 배송</a:t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3433235" y="1509300"/>
            <a:ext cx="1004100" cy="148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피부 상태 촬영 및 라이프스타일 진단</a:t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4774303" y="1509300"/>
            <a:ext cx="1004100" cy="148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맞춤형 제품 추천 및 사용팁 안내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6115370" y="1509300"/>
            <a:ext cx="1004100" cy="148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맞춤형 제품 및 레포트 배송</a:t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7456438" y="1509300"/>
            <a:ext cx="1004100" cy="148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진단 및 </a:t>
            </a:r>
            <a:r>
              <a:rPr lang="ko"/>
              <a:t>피드백</a:t>
            </a:r>
            <a:endParaRPr/>
          </a:p>
        </p:txBody>
      </p:sp>
      <p:cxnSp>
        <p:nvCxnSpPr>
          <p:cNvPr id="92" name="Google Shape;92;p17"/>
          <p:cNvCxnSpPr>
            <a:stCxn id="86" idx="3"/>
            <a:endCxn id="87" idx="1"/>
          </p:cNvCxnSpPr>
          <p:nvPr/>
        </p:nvCxnSpPr>
        <p:spPr>
          <a:xfrm>
            <a:off x="1755200" y="2249850"/>
            <a:ext cx="33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7"/>
          <p:cNvCxnSpPr>
            <a:stCxn id="87" idx="3"/>
            <a:endCxn id="88" idx="1"/>
          </p:cNvCxnSpPr>
          <p:nvPr/>
        </p:nvCxnSpPr>
        <p:spPr>
          <a:xfrm>
            <a:off x="3096268" y="2249850"/>
            <a:ext cx="33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7"/>
          <p:cNvCxnSpPr>
            <a:stCxn id="88" idx="3"/>
            <a:endCxn id="89" idx="1"/>
          </p:cNvCxnSpPr>
          <p:nvPr/>
        </p:nvCxnSpPr>
        <p:spPr>
          <a:xfrm>
            <a:off x="4437335" y="2249850"/>
            <a:ext cx="33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7"/>
          <p:cNvCxnSpPr>
            <a:stCxn id="89" idx="3"/>
            <a:endCxn id="90" idx="1"/>
          </p:cNvCxnSpPr>
          <p:nvPr/>
        </p:nvCxnSpPr>
        <p:spPr>
          <a:xfrm>
            <a:off x="5778403" y="2249850"/>
            <a:ext cx="33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7"/>
          <p:cNvCxnSpPr>
            <a:stCxn id="90" idx="3"/>
            <a:endCxn id="91" idx="1"/>
          </p:cNvCxnSpPr>
          <p:nvPr/>
        </p:nvCxnSpPr>
        <p:spPr>
          <a:xfrm>
            <a:off x="7119470" y="2249850"/>
            <a:ext cx="33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p17"/>
          <p:cNvSpPr txBox="1"/>
          <p:nvPr/>
        </p:nvSpPr>
        <p:spPr>
          <a:xfrm>
            <a:off x="688150" y="3312375"/>
            <a:ext cx="8015100" cy="14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구독 기반 진단–추천–배송–피드백 </a:t>
            </a:r>
            <a:r>
              <a:rPr b="1" lang="ko" sz="1100">
                <a:solidFill>
                  <a:schemeClr val="dk1"/>
                </a:solidFill>
              </a:rPr>
              <a:t>순환 구조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 sz="1100">
                <a:solidFill>
                  <a:schemeClr val="dk1"/>
                </a:solidFill>
              </a:rPr>
              <a:t>구독 시작</a:t>
            </a:r>
            <a:r>
              <a:rPr lang="ko" sz="1100">
                <a:solidFill>
                  <a:schemeClr val="dk1"/>
                </a:solidFill>
              </a:rPr>
              <a:t> → 진단용 카메라(디바이스) 배송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 sz="1100">
                <a:solidFill>
                  <a:schemeClr val="dk1"/>
                </a:solidFill>
              </a:rPr>
              <a:t>피부 상태 촬영 + 라이프스타일 음성 진단</a:t>
            </a:r>
            <a:r>
              <a:rPr lang="ko" sz="1100">
                <a:solidFill>
                  <a:schemeClr val="dk1"/>
                </a:solidFill>
              </a:rPr>
              <a:t> (매일, 정해진 시간에 자동)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 sz="1100">
                <a:solidFill>
                  <a:schemeClr val="dk1"/>
                </a:solidFill>
              </a:rPr>
              <a:t>맞춤형 제품 추천 및 사용 TIP 안내</a:t>
            </a:r>
            <a:r>
              <a:rPr lang="ko" sz="1100">
                <a:solidFill>
                  <a:schemeClr val="dk1"/>
                </a:solidFill>
              </a:rPr>
              <a:t> (진단 데이터 기반 큐레이션)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 sz="1100">
                <a:solidFill>
                  <a:schemeClr val="dk1"/>
                </a:solidFill>
              </a:rPr>
              <a:t>맞춤형 제품 배송</a:t>
            </a:r>
            <a:r>
              <a:rPr lang="ko" sz="1100">
                <a:solidFill>
                  <a:schemeClr val="dk1"/>
                </a:solidFill>
              </a:rPr>
              <a:t> (주 1회, 친환경 용기)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 sz="1100">
                <a:solidFill>
                  <a:schemeClr val="dk1"/>
                </a:solidFill>
              </a:rPr>
              <a:t>진단 및 피드백</a:t>
            </a:r>
            <a:r>
              <a:rPr lang="ko" sz="1100">
                <a:solidFill>
                  <a:schemeClr val="dk1"/>
                </a:solidFill>
              </a:rPr>
              <a:t> → 다시 2번으로 순환하며 데이터가 쌓일수록 정교해짐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/>
        </p:nvSpPr>
        <p:spPr>
          <a:xfrm>
            <a:off x="422200" y="342900"/>
            <a:ext cx="24492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개발 내용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523000" y="1981225"/>
            <a:ext cx="82572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ko" sz="1800">
                <a:solidFill>
                  <a:schemeClr val="dk2"/>
                </a:solidFill>
              </a:rPr>
              <a:t>피부 예측 모델 개발을 위한 데이터 학습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ko" sz="1800">
                <a:solidFill>
                  <a:schemeClr val="dk2"/>
                </a:solidFill>
              </a:rPr>
              <a:t>AI Hub 피부 데이터셋 활용 (xxxxx건 규모)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ko" sz="1800">
                <a:solidFill>
                  <a:schemeClr val="dk2"/>
                </a:solidFill>
              </a:rPr>
              <a:t>미래 피부 예측 신뢰도 확보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ko" sz="1800">
                <a:solidFill>
                  <a:schemeClr val="dk2"/>
                </a:solidFill>
              </a:rPr>
              <a:t>음성인식 기능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ko" sz="1800">
                <a:solidFill>
                  <a:schemeClr val="dk2"/>
                </a:solidFill>
              </a:rPr>
              <a:t>Web Speech API(STT/TTS) 기반으로 음성 진단 구현 + Claude API 연동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ko" sz="1800">
                <a:solidFill>
                  <a:schemeClr val="dk2"/>
                </a:solidFill>
              </a:rPr>
              <a:t>타이핑 없이 대화형으로 진단 가능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ko" sz="1800">
                <a:solidFill>
                  <a:schemeClr val="dk2"/>
                </a:solidFill>
              </a:rPr>
              <a:t>답변은 스프레드시트에 누적 저장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ko" sz="1800">
                <a:solidFill>
                  <a:schemeClr val="dk2"/>
                </a:solidFill>
              </a:rPr>
              <a:t>Claude API 연동을 통해 서비스 고도화 </a:t>
            </a:r>
            <a:endParaRPr sz="1800">
              <a:solidFill>
                <a:schemeClr val="dk2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음성 인터뷰: 일방향 설문 → 이전 답변을 기억하는 양방향 대화</a:t>
            </a:r>
            <a:endParaRPr sz="11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ko" sz="1100">
                <a:solidFill>
                  <a:schemeClr val="dk1"/>
                </a:solidFill>
              </a:rPr>
              <a:t>진단 결과 기반 코스맥스 제품군 내 맞춤 추천 + AI 코멘트 자동 생성</a:t>
            </a:r>
            <a:r>
              <a:rPr lang="ko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523000" y="1084100"/>
            <a:ext cx="3151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| 주요 개발 ….. (워딩 고민)  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550500" y="1735013"/>
            <a:ext cx="25776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(1) 귀찮음 해소</a:t>
            </a:r>
            <a:endParaRPr/>
          </a:p>
        </p:txBody>
      </p:sp>
      <p:sp>
        <p:nvSpPr>
          <p:cNvPr id="110" name="Google Shape;110;p19"/>
          <p:cNvSpPr/>
          <p:nvPr/>
        </p:nvSpPr>
        <p:spPr>
          <a:xfrm>
            <a:off x="550500" y="2520700"/>
            <a:ext cx="38115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촬영 외 모든 진단은 음성 설문으로 진행</a:t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5834650" y="1218400"/>
            <a:ext cx="2577600" cy="329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화면 캡처 </a:t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550500" y="3081133"/>
            <a:ext cx="4700400" cy="149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촬영을 뺀 생활습관 진단(수면·물·스트레스·운동 등)을 타이핑 없이 목소리로 진행 — "최근 생활습관을 목소리로 몇 가지 여쭤볼게요" → 손이 바쁜 아침/취침 전에도 부담 없이 완료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AI가 질문을 소리로 읽어주고(TTS) 사용자가 말하면 자동 텍스트 변환(STT) → 요즘 AI와 대화하듯 양방향</a:t>
            </a:r>
            <a:endParaRPr/>
          </a:p>
        </p:txBody>
      </p:sp>
      <p:sp>
        <p:nvSpPr>
          <p:cNvPr id="113" name="Google Shape;113;p19"/>
          <p:cNvSpPr txBox="1"/>
          <p:nvPr/>
        </p:nvSpPr>
        <p:spPr>
          <a:xfrm>
            <a:off x="422200" y="342900"/>
            <a:ext cx="24492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개발 내용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523000" y="1084100"/>
            <a:ext cx="3151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| </a:t>
            </a:r>
            <a:r>
              <a:rPr b="1" lang="ko" sz="1800">
                <a:solidFill>
                  <a:schemeClr val="dk1"/>
                </a:solidFill>
              </a:rPr>
              <a:t>세부 기능 소개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/>
          <p:nvPr/>
        </p:nvSpPr>
        <p:spPr>
          <a:xfrm>
            <a:off x="550500" y="2152475"/>
            <a:ext cx="25776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(1) 귀찮음 해소</a:t>
            </a:r>
            <a:endParaRPr/>
          </a:p>
        </p:txBody>
      </p:sp>
      <p:sp>
        <p:nvSpPr>
          <p:cNvPr id="120" name="Google Shape;120;p20"/>
          <p:cNvSpPr/>
          <p:nvPr/>
        </p:nvSpPr>
        <p:spPr>
          <a:xfrm>
            <a:off x="550500" y="3057225"/>
            <a:ext cx="38115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정해진 시간에 자동으로 진단 기능 on</a:t>
            </a:r>
            <a:endParaRPr/>
          </a:p>
        </p:txBody>
      </p:sp>
      <p:sp>
        <p:nvSpPr>
          <p:cNvPr id="121" name="Google Shape;121;p20"/>
          <p:cNvSpPr/>
          <p:nvPr/>
        </p:nvSpPr>
        <p:spPr>
          <a:xfrm>
            <a:off x="5834650" y="1218400"/>
            <a:ext cx="2577600" cy="329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화면 캡처 </a:t>
            </a:r>
            <a:endParaRPr/>
          </a:p>
        </p:txBody>
      </p:sp>
      <p:sp>
        <p:nvSpPr>
          <p:cNvPr id="122" name="Google Shape;122;p20"/>
          <p:cNvSpPr/>
          <p:nvPr/>
        </p:nvSpPr>
        <p:spPr>
          <a:xfrm>
            <a:off x="550500" y="3617651"/>
            <a:ext cx="3811500" cy="124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진단 시간을 한 번 설정하면 매일 같은 시간에 진단이 자동으로 켜짐 → "언제 할지" 결정하는 부담 제거, 자연스러운 루틴화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'진단 시간 변경'으로 아침 준비 시간·나이트 루틴 등 내 생활 패턴에 맞게 언제든 재설정 </a:t>
            </a:r>
            <a:endParaRPr/>
          </a:p>
        </p:txBody>
      </p:sp>
      <p:sp>
        <p:nvSpPr>
          <p:cNvPr id="123" name="Google Shape;123;p20"/>
          <p:cNvSpPr txBox="1"/>
          <p:nvPr/>
        </p:nvSpPr>
        <p:spPr>
          <a:xfrm>
            <a:off x="422200" y="342900"/>
            <a:ext cx="24492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개발 내용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523000" y="1084100"/>
            <a:ext cx="3151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| 세부 기능 소개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/>
          <p:nvPr/>
        </p:nvSpPr>
        <p:spPr>
          <a:xfrm>
            <a:off x="550500" y="2083200"/>
            <a:ext cx="25776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(1) 귀찮음 해소</a:t>
            </a:r>
            <a:endParaRPr/>
          </a:p>
        </p:txBody>
      </p:sp>
      <p:sp>
        <p:nvSpPr>
          <p:cNvPr id="130" name="Google Shape;130;p21"/>
          <p:cNvSpPr/>
          <p:nvPr/>
        </p:nvSpPr>
        <p:spPr>
          <a:xfrm>
            <a:off x="550500" y="2987950"/>
            <a:ext cx="38115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나의 피부에 맞는 제품을 매주 자동으로 추천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5834650" y="1218400"/>
            <a:ext cx="2577600" cy="329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화면 캡처 </a:t>
            </a:r>
            <a:endParaRPr/>
          </a:p>
        </p:txBody>
      </p:sp>
      <p:sp>
        <p:nvSpPr>
          <p:cNvPr id="132" name="Google Shape;132;p21"/>
          <p:cNvSpPr/>
          <p:nvPr/>
        </p:nvSpPr>
        <p:spPr>
          <a:xfrm>
            <a:off x="550500" y="3548375"/>
            <a:ext cx="4561800" cy="122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 sz="1100">
                <a:solidFill>
                  <a:schemeClr val="dk1"/>
                </a:solidFill>
              </a:rPr>
              <a:t>제품 탐색·비교 필요 X — "촬영한 피부 데이터 + 음성 인터뷰 답변을 함께 분석해서 골랐어요"로 선택 피로 제거</a:t>
            </a:r>
            <a:endParaRPr sz="11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 sz="1100">
                <a:solidFill>
                  <a:schemeClr val="dk1"/>
                </a:solidFill>
              </a:rPr>
              <a:t>단순 추천이 아니라 </a:t>
            </a:r>
            <a:r>
              <a:rPr b="1" lang="ko" sz="1100">
                <a:solidFill>
                  <a:schemeClr val="dk1"/>
                </a:solidFill>
              </a:rPr>
              <a:t>데이터 근거 추천 성분</a:t>
            </a:r>
            <a:r>
              <a:rPr lang="ko" sz="1100">
                <a:solidFill>
                  <a:schemeClr val="dk1"/>
                </a:solidFill>
              </a:rPr>
              <a:t>과 </a:t>
            </a:r>
            <a:r>
              <a:rPr b="1" lang="ko" sz="1100">
                <a:solidFill>
                  <a:schemeClr val="dk1"/>
                </a:solidFill>
              </a:rPr>
              <a:t>이번주 제품 사용 TIP</a:t>
            </a:r>
            <a:r>
              <a:rPr lang="ko" sz="1100">
                <a:solidFill>
                  <a:schemeClr val="dk1"/>
                </a:solidFill>
              </a:rPr>
              <a:t>까지 제공 → 왜 이 제품인지, 어떻게 써야 하는지까지 자동 안내</a:t>
            </a:r>
            <a:endParaRPr sz="11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 sz="1100">
                <a:solidFill>
                  <a:schemeClr val="dk1"/>
                </a:solidFill>
              </a:rPr>
              <a:t>코스맥스/고객사 제조 제품 중 진단 수치 기반 매칭</a:t>
            </a:r>
            <a:endParaRPr/>
          </a:p>
        </p:txBody>
      </p:sp>
      <p:sp>
        <p:nvSpPr>
          <p:cNvPr id="133" name="Google Shape;133;p21"/>
          <p:cNvSpPr txBox="1"/>
          <p:nvPr/>
        </p:nvSpPr>
        <p:spPr>
          <a:xfrm>
            <a:off x="422200" y="342900"/>
            <a:ext cx="24492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개발 내용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523000" y="1084100"/>
            <a:ext cx="3151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| 세부 기능 소개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/>
          <p:nvPr/>
        </p:nvSpPr>
        <p:spPr>
          <a:xfrm>
            <a:off x="550500" y="1927325"/>
            <a:ext cx="25776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(1) 귀찮음 해소</a:t>
            </a:r>
            <a:endParaRPr/>
          </a:p>
        </p:txBody>
      </p:sp>
      <p:sp>
        <p:nvSpPr>
          <p:cNvPr id="140" name="Google Shape;140;p22"/>
          <p:cNvSpPr/>
          <p:nvPr/>
        </p:nvSpPr>
        <p:spPr>
          <a:xfrm>
            <a:off x="550500" y="2832075"/>
            <a:ext cx="38115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진단 후 추천 맞춤 제품은 매주 자동 배송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1" name="Google Shape;141;p22"/>
          <p:cNvSpPr/>
          <p:nvPr/>
        </p:nvSpPr>
        <p:spPr>
          <a:xfrm>
            <a:off x="5834650" y="1218400"/>
            <a:ext cx="2577600" cy="329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화면 캡처 </a:t>
            </a: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550500" y="3392522"/>
            <a:ext cx="3811500" cy="195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제품 탐색-구매-사용까지의 시간 단축 가능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진단만 하면 제품은 알아서 도착 → 주문·재구매 행동 자체를 제거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진단 결과에 따라 사용량·교체 주기를 유동적으로 조절(우선 1주 소량 단위) → 낭비 없이 딱 필요한 만큼만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친환경 용기 배송으로 구독형 소비의 환경 부담 완화</a:t>
            </a:r>
            <a:endParaRPr/>
          </a:p>
        </p:txBody>
      </p:sp>
      <p:sp>
        <p:nvSpPr>
          <p:cNvPr id="143" name="Google Shape;143;p22"/>
          <p:cNvSpPr txBox="1"/>
          <p:nvPr/>
        </p:nvSpPr>
        <p:spPr>
          <a:xfrm>
            <a:off x="422200" y="342900"/>
            <a:ext cx="24492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개발 내용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523000" y="1084100"/>
            <a:ext cx="3151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| 세부 기능 소개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/>
          <p:nvPr/>
        </p:nvSpPr>
        <p:spPr>
          <a:xfrm>
            <a:off x="550500" y="2083200"/>
            <a:ext cx="44751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(2) 지속적인 동기 제공 및 락인 요소 제공</a:t>
            </a:r>
            <a:endParaRPr/>
          </a:p>
        </p:txBody>
      </p:sp>
      <p:sp>
        <p:nvSpPr>
          <p:cNvPr id="150" name="Google Shape;150;p23"/>
          <p:cNvSpPr/>
          <p:nvPr/>
        </p:nvSpPr>
        <p:spPr>
          <a:xfrm>
            <a:off x="550500" y="2987950"/>
            <a:ext cx="38115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정해진 시간에 진단 알림 및 자동 앱 on </a:t>
            </a:r>
            <a:endParaRPr/>
          </a:p>
        </p:txBody>
      </p:sp>
      <p:sp>
        <p:nvSpPr>
          <p:cNvPr id="151" name="Google Shape;151;p23"/>
          <p:cNvSpPr/>
          <p:nvPr/>
        </p:nvSpPr>
        <p:spPr>
          <a:xfrm>
            <a:off x="5834650" y="1218400"/>
            <a:ext cx="2577600" cy="329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화면 캡처 </a:t>
            </a:r>
            <a:endParaRPr/>
          </a:p>
        </p:txBody>
      </p:sp>
      <p:sp>
        <p:nvSpPr>
          <p:cNvPr id="152" name="Google Shape;152;p23"/>
          <p:cNvSpPr/>
          <p:nvPr/>
        </p:nvSpPr>
        <p:spPr>
          <a:xfrm>
            <a:off x="550500" y="3548367"/>
            <a:ext cx="3811500" cy="96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설정 시간에 알림 → 진단을 '기억해야 하는 일'에서 '챙겨주는 일'로 전환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굳이 기억하거나 귀찮게 앱을 켜지 않아도 자연스러운 진단 습관 형성 </a:t>
            </a:r>
            <a:endParaRPr/>
          </a:p>
        </p:txBody>
      </p:sp>
      <p:sp>
        <p:nvSpPr>
          <p:cNvPr id="153" name="Google Shape;153;p23"/>
          <p:cNvSpPr txBox="1"/>
          <p:nvPr/>
        </p:nvSpPr>
        <p:spPr>
          <a:xfrm>
            <a:off x="422200" y="342900"/>
            <a:ext cx="24492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개발 내용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523000" y="1084100"/>
            <a:ext cx="3151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| 세부 기능 소개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/>
          <p:nvPr/>
        </p:nvSpPr>
        <p:spPr>
          <a:xfrm>
            <a:off x="550500" y="2169800"/>
            <a:ext cx="44751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(2) 지속적인 동기 제공 및 락인 요소 제공</a:t>
            </a:r>
            <a:endParaRPr/>
          </a:p>
        </p:txBody>
      </p:sp>
      <p:sp>
        <p:nvSpPr>
          <p:cNvPr id="160" name="Google Shape;160;p24"/>
          <p:cNvSpPr/>
          <p:nvPr/>
        </p:nvSpPr>
        <p:spPr>
          <a:xfrm>
            <a:off x="550500" y="3074550"/>
            <a:ext cx="38115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주차별 제품 배송 및 리포트 제공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5834650" y="1218400"/>
            <a:ext cx="2577600" cy="329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화면 캡처 </a:t>
            </a:r>
            <a:endParaRPr/>
          </a:p>
        </p:txBody>
      </p:sp>
      <p:sp>
        <p:nvSpPr>
          <p:cNvPr id="162" name="Google Shape;162;p24"/>
          <p:cNvSpPr/>
          <p:nvPr/>
        </p:nvSpPr>
        <p:spPr>
          <a:xfrm>
            <a:off x="550500" y="3635000"/>
            <a:ext cx="4475100" cy="186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매주 리포트로 "지난주 대비 내 피부가 어떻게 변했는지"를 정기 확인 → 관리를 계속할 이유 제공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리포트–제품이 세트로 도착해 "받은 제품을 써야 다음 리포트가 의미 있다"는 사용 루프(락인) 형성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진단을 빼먹으면 "빼먹은 날이 많을수록 리포트 정확도가 떨어져요" 안내 → 꾸준한 참여를 유도</a:t>
            </a:r>
            <a:endParaRPr/>
          </a:p>
        </p:txBody>
      </p:sp>
      <p:sp>
        <p:nvSpPr>
          <p:cNvPr id="163" name="Google Shape;163;p24"/>
          <p:cNvSpPr txBox="1"/>
          <p:nvPr/>
        </p:nvSpPr>
        <p:spPr>
          <a:xfrm>
            <a:off x="422200" y="342900"/>
            <a:ext cx="24492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개발 내용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523000" y="1084100"/>
            <a:ext cx="3151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| 세부 기능 소개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/>
        </p:nvSpPr>
        <p:spPr>
          <a:xfrm>
            <a:off x="550500" y="1806100"/>
            <a:ext cx="44751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(2) 지속적인 동기 제공 및 락인 요소 제공</a:t>
            </a:r>
            <a:endParaRPr/>
          </a:p>
        </p:txBody>
      </p:sp>
      <p:sp>
        <p:nvSpPr>
          <p:cNvPr id="170" name="Google Shape;170;p25"/>
          <p:cNvSpPr/>
          <p:nvPr/>
        </p:nvSpPr>
        <p:spPr>
          <a:xfrm>
            <a:off x="550500" y="2710850"/>
            <a:ext cx="38115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포인트 제도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" name="Google Shape;171;p25"/>
          <p:cNvSpPr/>
          <p:nvPr/>
        </p:nvSpPr>
        <p:spPr>
          <a:xfrm>
            <a:off x="5834650" y="1218400"/>
            <a:ext cx="2577600" cy="329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화면 캡처 </a:t>
            </a:r>
            <a:endParaRPr/>
          </a:p>
        </p:txBody>
      </p:sp>
      <p:sp>
        <p:nvSpPr>
          <p:cNvPr id="172" name="Google Shape;172;p25"/>
          <p:cNvSpPr/>
          <p:nvPr/>
        </p:nvSpPr>
        <p:spPr>
          <a:xfrm>
            <a:off x="550500" y="3271288"/>
            <a:ext cx="3811500" cy="166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>
                <a:solidFill>
                  <a:schemeClr val="dk1"/>
                </a:solidFill>
              </a:rPr>
              <a:t>출석 및 피부관리를 통한 포인트 적립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ko">
                <a:solidFill>
                  <a:schemeClr val="dk1"/>
                </a:solidFill>
              </a:rPr>
              <a:t>행동별 포인트로 게이미피케이션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ko">
                <a:solidFill>
                  <a:schemeClr val="dk1"/>
                </a:solidFill>
              </a:rPr>
              <a:t>이용자 내 순위 노출로 경쟁심 자극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ko">
                <a:solidFill>
                  <a:schemeClr val="dk1"/>
                </a:solidFill>
              </a:rPr>
              <a:t>매주 월요일 00:00 초기화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ko">
                <a:solidFill>
                  <a:schemeClr val="dk1"/>
                </a:solidFill>
              </a:rPr>
              <a:t>적</a:t>
            </a:r>
            <a:r>
              <a:rPr lang="ko">
                <a:solidFill>
                  <a:schemeClr val="dk1"/>
                </a:solidFill>
              </a:rPr>
              <a:t>립 포인트를 혜택으로 전환	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22200" y="342900"/>
            <a:ext cx="24492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개발 내용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523000" y="1084100"/>
            <a:ext cx="3151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| 세부 기능 소개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/>
          <p:nvPr/>
        </p:nvSpPr>
        <p:spPr>
          <a:xfrm>
            <a:off x="550500" y="1927325"/>
            <a:ext cx="44751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(2) 지속적인 동기 제공 및 락인 요소 제공</a:t>
            </a:r>
            <a:endParaRPr/>
          </a:p>
        </p:txBody>
      </p:sp>
      <p:sp>
        <p:nvSpPr>
          <p:cNvPr id="180" name="Google Shape;180;p26"/>
          <p:cNvSpPr/>
          <p:nvPr/>
        </p:nvSpPr>
        <p:spPr>
          <a:xfrm>
            <a:off x="550500" y="2832075"/>
            <a:ext cx="38115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커뮤니티 서비스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5834650" y="1218400"/>
            <a:ext cx="2577600" cy="329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화면 캡처 </a:t>
            </a:r>
            <a:endParaRPr/>
          </a:p>
        </p:txBody>
      </p:sp>
      <p:sp>
        <p:nvSpPr>
          <p:cNvPr id="182" name="Google Shape;182;p26"/>
          <p:cNvSpPr/>
          <p:nvPr/>
        </p:nvSpPr>
        <p:spPr>
          <a:xfrm>
            <a:off x="550500" y="3392488"/>
            <a:ext cx="3811500" cy="83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ko" sz="1100">
                <a:solidFill>
                  <a:schemeClr val="dk1"/>
                </a:solidFill>
              </a:rPr>
              <a:t>비슷한 고민끼리 모이는 </a:t>
            </a:r>
            <a:r>
              <a:rPr b="1" lang="ko" sz="1100">
                <a:solidFill>
                  <a:schemeClr val="dk1"/>
                </a:solidFill>
              </a:rPr>
              <a:t>고민별 채팅방</a:t>
            </a:r>
            <a:r>
              <a:rPr lang="ko" sz="1100">
                <a:solidFill>
                  <a:schemeClr val="dk1"/>
                </a:solidFill>
              </a:rPr>
              <a:t>으로 정보·경험 공유 → 혼자 관리할 때보다 지속률↑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>
                <a:solidFill>
                  <a:schemeClr val="dk1"/>
                </a:solidFill>
              </a:rPr>
              <a:t>리뷰 작성 시 포인트 지급으로 커뮤니티 참여와 락인을 연결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422200" y="342900"/>
            <a:ext cx="24492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개발 내용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523000" y="1084100"/>
            <a:ext cx="3151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| 세부 기능 소개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/>
          <p:nvPr/>
        </p:nvSpPr>
        <p:spPr>
          <a:xfrm>
            <a:off x="550500" y="1837004"/>
            <a:ext cx="44751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(3) 피부관리 필요성에 대한 현실감 제공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" name="Google Shape;190;p27"/>
          <p:cNvSpPr/>
          <p:nvPr/>
        </p:nvSpPr>
        <p:spPr>
          <a:xfrm>
            <a:off x="550500" y="2500279"/>
            <a:ext cx="38115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직관적인 시각 분석 자료 제공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" name="Google Shape;191;p27"/>
          <p:cNvSpPr/>
          <p:nvPr/>
        </p:nvSpPr>
        <p:spPr>
          <a:xfrm>
            <a:off x="5834650" y="1218400"/>
            <a:ext cx="2577600" cy="329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화면 캡처 </a:t>
            </a:r>
            <a:endParaRPr/>
          </a:p>
        </p:txBody>
      </p:sp>
      <p:sp>
        <p:nvSpPr>
          <p:cNvPr id="192" name="Google Shape;192;p27"/>
          <p:cNvSpPr/>
          <p:nvPr/>
        </p:nvSpPr>
        <p:spPr>
          <a:xfrm>
            <a:off x="641725" y="3302179"/>
            <a:ext cx="4475100" cy="168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ko">
                <a:solidFill>
                  <a:schemeClr val="dk1"/>
                </a:solidFill>
              </a:rPr>
              <a:t>항목(모공·유수분·색소침착·톤·노폐물) 탭을 누르면 내 사진 위 해당 부위를 하이라이트 → "내 피부가 지금 이렇구나"를 눈으로 즉시 인지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ko">
                <a:solidFill>
                  <a:schemeClr val="dk1"/>
                </a:solidFill>
              </a:rPr>
              <a:t>육각형(레이더) 차트 꼭짓점을 누르면 사진에서 그 부위가 강조돼, 수치와 위치를 동시에 직관적으로 확인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ko">
                <a:solidFill>
                  <a:schemeClr val="dk1"/>
                </a:solidFill>
              </a:rPr>
              <a:t>밤 진단에서 클렌징 후 남은 노폐물을 시각적으로 보여줘 관리 필요성을 체감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422200" y="342900"/>
            <a:ext cx="24492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개발 내용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523000" y="1084100"/>
            <a:ext cx="3151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| 세부 기능 소개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/>
          <p:nvPr/>
        </p:nvSpPr>
        <p:spPr>
          <a:xfrm>
            <a:off x="550500" y="1927325"/>
            <a:ext cx="44751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(3) 피부관리 필요성에 대한 현실감 제공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0" name="Google Shape;200;p28"/>
          <p:cNvSpPr/>
          <p:nvPr/>
        </p:nvSpPr>
        <p:spPr>
          <a:xfrm>
            <a:off x="550500" y="2832075"/>
            <a:ext cx="3811500" cy="40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피부 관리 전후 비교 이미지 자료 제공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1" name="Google Shape;201;p28"/>
          <p:cNvSpPr/>
          <p:nvPr/>
        </p:nvSpPr>
        <p:spPr>
          <a:xfrm>
            <a:off x="5834650" y="1218400"/>
            <a:ext cx="2577600" cy="329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화면 캡처 </a:t>
            </a:r>
            <a:endParaRPr/>
          </a:p>
        </p:txBody>
      </p:sp>
      <p:sp>
        <p:nvSpPr>
          <p:cNvPr id="202" name="Google Shape;202;p28"/>
          <p:cNvSpPr/>
          <p:nvPr/>
        </p:nvSpPr>
        <p:spPr>
          <a:xfrm>
            <a:off x="550500" y="3392501"/>
            <a:ext cx="3811500" cy="126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ko" sz="1100">
                <a:solidFill>
                  <a:schemeClr val="dk1"/>
                </a:solidFill>
              </a:rPr>
              <a:t>'어제 · 오늘 비교', '선택일 vs 전날'로 실제 변화를 눈으로 확인 → 성취감과 지속 동기로 연결 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>
                <a:solidFill>
                  <a:schemeClr val="dk1"/>
                </a:solidFill>
              </a:rPr>
              <a:t>프레이밍은 </a:t>
            </a:r>
            <a:r>
              <a:rPr b="1" lang="ko" sz="1100">
                <a:solidFill>
                  <a:schemeClr val="dk1"/>
                </a:solidFill>
              </a:rPr>
              <a:t>이득 중심</a:t>
            </a:r>
            <a:r>
              <a:rPr lang="ko" sz="1100">
                <a:solidFill>
                  <a:schemeClr val="dk1"/>
                </a:solidFill>
              </a:rPr>
              <a:t> — "걱정을 주는 예측이 아니라, 관리의 효과를 보여주는 예측" → 불안이 아닌 관리 동기로 전환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422200" y="342900"/>
            <a:ext cx="24492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개발 내용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523000" y="1084100"/>
            <a:ext cx="3151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| 세부 기능 소개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/>
          <p:nvPr/>
        </p:nvSpPr>
        <p:spPr>
          <a:xfrm>
            <a:off x="422200" y="342900"/>
            <a:ext cx="24492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히든 미션 대응 방안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10" name="Google Shape;210;p29"/>
          <p:cNvSpPr txBox="1"/>
          <p:nvPr/>
        </p:nvSpPr>
        <p:spPr>
          <a:xfrm>
            <a:off x="422200" y="1108000"/>
            <a:ext cx="6335400" cy="21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① 정보 신뢰성 확보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진단 결과·추천에 대해 팝업 공지로 근거 제시 (관련 논문·기사 등)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약 10,000건 규모 데이터 학습으로 진단·예측 신뢰도 확보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② 연령별 맞춤 + 미성년자 보호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미성년자 대상 서비스에는 </a:t>
            </a:r>
            <a:r>
              <a:rPr b="1" lang="ko" sz="1100">
                <a:solidFill>
                  <a:schemeClr val="dk1"/>
                </a:solidFill>
              </a:rPr>
              <a:t>보호자 동의 절차 의무화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연령대별 피부 고민에 최적화된 진단 제공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예) 10대: 피지·여드름 등 사춘기 피부 특성 중심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예) 40대: 주름·탄력 저하 등 노화 관련 특성 중심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 txBox="1"/>
          <p:nvPr/>
        </p:nvSpPr>
        <p:spPr>
          <a:xfrm>
            <a:off x="422200" y="342900"/>
            <a:ext cx="24492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기대효과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758125" y="1481250"/>
            <a:ext cx="6720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 sz="1100">
                <a:solidFill>
                  <a:schemeClr val="dk1"/>
                </a:solidFill>
              </a:rPr>
              <a:t>사용자:</a:t>
            </a:r>
            <a:r>
              <a:rPr lang="ko" sz="1100">
                <a:solidFill>
                  <a:schemeClr val="dk1"/>
                </a:solidFill>
              </a:rPr>
              <a:t> 진단·탐색·구매의 3단계 리소스를 최소화한 '노력 없는 지속 관리' 경험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 sz="1100">
                <a:solidFill>
                  <a:schemeClr val="dk1"/>
                </a:solidFill>
              </a:rPr>
              <a:t>데이터:</a:t>
            </a:r>
            <a:r>
              <a:rPr lang="ko" sz="1100">
                <a:solidFill>
                  <a:schemeClr val="dk1"/>
                </a:solidFill>
              </a:rPr>
              <a:t> 진단 수치·라이프스타일·제품 반응 데이터 축적 → 맞춤 정확도 및 피부 예측 모델 고도화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 sz="1100">
                <a:solidFill>
                  <a:schemeClr val="dk1"/>
                </a:solidFill>
              </a:rPr>
              <a:t>사업(코스맥스):</a:t>
            </a:r>
            <a:r>
              <a:rPr lang="ko" sz="1100">
                <a:solidFill>
                  <a:schemeClr val="dk1"/>
                </a:solidFill>
              </a:rPr>
              <a:t> 구독 기반 반복 매출 + 실사용 피부 데이터 확보로 제품 개발/추천 선순환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/>
        </p:nvSpPr>
        <p:spPr>
          <a:xfrm>
            <a:off x="422200" y="342900"/>
            <a:ext cx="24492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보완점 및 한계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22" name="Google Shape;222;p31"/>
          <p:cNvSpPr txBox="1"/>
          <p:nvPr/>
        </p:nvSpPr>
        <p:spPr>
          <a:xfrm>
            <a:off x="583150" y="1166325"/>
            <a:ext cx="7816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 sz="1100">
                <a:solidFill>
                  <a:schemeClr val="dk1"/>
                </a:solidFill>
              </a:rPr>
              <a:t>초기 사용자 확보</a:t>
            </a:r>
            <a:r>
              <a:rPr lang="ko" sz="1100">
                <a:solidFill>
                  <a:schemeClr val="dk1"/>
                </a:solidFill>
              </a:rPr>
              <a:t> — 진단용 카메라 배송 등 초기 진입 장벽, 습관 형성 전 이탈 리스크 → 온보딩·초기 무료 체험 등으로 완화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 sz="1100">
                <a:solidFill>
                  <a:schemeClr val="dk1"/>
                </a:solidFill>
              </a:rPr>
              <a:t>진단 정확도</a:t>
            </a:r>
            <a:r>
              <a:rPr lang="ko" sz="1100">
                <a:solidFill>
                  <a:schemeClr val="dk1"/>
                </a:solidFill>
              </a:rPr>
              <a:t> — 촬영 환경(조명·거리) 편차에 따른 결과 신뢰도 한계 → 촬영 가이드 UI로 보완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 sz="1100">
                <a:solidFill>
                  <a:schemeClr val="dk1"/>
                </a:solidFill>
              </a:rPr>
              <a:t>이미지 생성 의존</a:t>
            </a:r>
            <a:r>
              <a:rPr lang="ko" sz="1100">
                <a:solidFill>
                  <a:schemeClr val="dk1"/>
                </a:solidFill>
              </a:rPr>
              <a:t> — 5년 후 예측이 외부 생성 서비스에 의존 (Claude API는 이미지 생성 미지원) → 비용·안정성 관리 필요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 sz="1100">
                <a:solidFill>
                  <a:schemeClr val="dk1"/>
                </a:solidFill>
              </a:rPr>
              <a:t>데이터 축적 기간</a:t>
            </a:r>
            <a:r>
              <a:rPr lang="ko" sz="1100">
                <a:solidFill>
                  <a:schemeClr val="dk1"/>
                </a:solidFill>
              </a:rPr>
              <a:t> — 개인화 정확도가 사용 기간에 비례 → 초기에는 예측/추천 정밀도가 낮을 수 있음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